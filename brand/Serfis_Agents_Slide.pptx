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rfis 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Eyebrow rule"/>
          <p:cNvSpPr/>
          <p:nvPr userDrawn="1"/>
        </p:nvSpPr>
        <p:spPr>
          <a:xfrm>
            <a:off x="777240" y="1997964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502920"/>
            <a:ext cx="713232" cy="713232"/>
          </a:xfrm>
          <a:prstGeom prst="rect">
            <a:avLst/>
          </a:prstGeom>
        </p:spPr>
      </p:pic>
      <p:sp>
        <p:nvSpPr>
          <p:cNvPr id="202" name="Wordmark"/>
          <p:cNvSpPr txBox="1"/>
          <p:nvPr userDrawn="1"/>
        </p:nvSpPr>
        <p:spPr>
          <a:xfrm>
            <a:off x="1618488" y="566928"/>
            <a:ext cx="32004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3000" b="1" i="0" spc="0" dirty="0">
                <a:solidFill>
                  <a:srgbClr val="EFEFEF"/>
                </a:solidFill>
                <a:latin typeface="Fredoka" pitchFamily="34" charset="0"/>
                <a:cs typeface="Fredoka" pitchFamily="34" charset="0"/>
              </a:rPr>
              <a:t>Serfis</a:t>
            </a:r>
          </a:p>
        </p:txBody>
      </p:sp>
      <p:sp>
        <p:nvSpPr>
          <p:cNvPr id="203" name="REC dot"/>
          <p:cNvSpPr/>
          <p:nvPr userDrawn="1"/>
        </p:nvSpPr>
        <p:spPr>
          <a:xfrm>
            <a:off x="10390327" y="768096"/>
            <a:ext cx="91440" cy="91440"/>
          </a:xfrm>
          <a:prstGeom prst="ellipse">
            <a:avLst/>
          </a:prstGeom>
          <a:solidFill>
            <a:srgbClr val="FF3D6E"/>
          </a:solidFill>
          <a:ln>
            <a:noFill/>
          </a:ln>
        </p:spPr>
      </p:sp>
      <p:sp>
        <p:nvSpPr>
          <p:cNvPr id="204" name="REC label"/>
          <p:cNvSpPr txBox="1"/>
          <p:nvPr userDrawn="1"/>
        </p:nvSpPr>
        <p:spPr>
          <a:xfrm>
            <a:off x="10545775" y="67665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i="0" spc="180" dirty="0">
                <a:solidFill>
                  <a:srgbClr val="A9A8AC"/>
                </a:solidFill>
                <a:latin typeface="DM Mono" pitchFamily="49" charset="0"/>
                <a:cs typeface="DM Mono" pitchFamily="49" charset="0"/>
              </a:rPr>
              <a:t>REC</a:t>
            </a:r>
          </a:p>
        </p:txBody>
      </p:sp>
      <p:sp>
        <p:nvSpPr>
          <p:cNvPr id="205" name="Frame tl"/>
          <p:cNvSpPr/>
          <p:nvPr userDrawn="1"/>
        </p:nvSpPr>
        <p:spPr>
          <a:xfrm>
            <a:off x="365760" y="36576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0" y="292608"/>
                </a:moveTo>
                <a:lnTo>
                  <a:pt x="0" y="0"/>
                </a:lnTo>
                <a:lnTo>
                  <a:pt x="292608" y="0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6" name="Frame tr"/>
          <p:cNvSpPr/>
          <p:nvPr userDrawn="1"/>
        </p:nvSpPr>
        <p:spPr>
          <a:xfrm>
            <a:off x="11533327" y="36576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0" y="0"/>
                </a:moveTo>
                <a:lnTo>
                  <a:pt x="292608" y="0"/>
                </a:lnTo>
                <a:lnTo>
                  <a:pt x="292608" y="29260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7" name="Frame bl"/>
          <p:cNvSpPr/>
          <p:nvPr userDrawn="1"/>
        </p:nvSpPr>
        <p:spPr>
          <a:xfrm>
            <a:off x="365760" y="61996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0" y="0"/>
                </a:moveTo>
                <a:lnTo>
                  <a:pt x="0" y="292608"/>
                </a:lnTo>
                <a:lnTo>
                  <a:pt x="292608" y="29260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8" name="Frame br"/>
          <p:cNvSpPr/>
          <p:nvPr userDrawn="1"/>
        </p:nvSpPr>
        <p:spPr>
          <a:xfrm>
            <a:off x="11533327" y="61996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292608" y="0"/>
                </a:moveTo>
                <a:lnTo>
                  <a:pt x="292608" y="292608"/>
                </a:lnTo>
                <a:lnTo>
                  <a:pt x="0" y="29260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2331720"/>
            <a:ext cx="9692640" cy="210312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4600" b="1" spc="-6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4663440"/>
            <a:ext cx="6949440" cy="8229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200" b="1" spc="0" cap="none">
                <a:solidFill>
                  <a:srgbClr val="C084FC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10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874520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2743200"/>
            <a:ext cx="10637215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8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952244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286000"/>
            <a:ext cx="9875520" cy="173736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4400" b="1" spc="-5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4251960"/>
            <a:ext cx="7132320" cy="100584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spc="0" cap="none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828800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2743200"/>
            <a:ext cx="5120640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072" y="2743200"/>
            <a:ext cx="5120640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olumn rule L"/>
          <p:cNvSpPr/>
          <p:nvPr userDrawn="1"/>
        </p:nvSpPr>
        <p:spPr>
          <a:xfrm>
            <a:off x="777240" y="3200400"/>
            <a:ext cx="5120640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06" name="Column rule R"/>
          <p:cNvSpPr/>
          <p:nvPr userDrawn="1"/>
        </p:nvSpPr>
        <p:spPr>
          <a:xfrm>
            <a:off x="6291072" y="3200400"/>
            <a:ext cx="5120640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697480"/>
            <a:ext cx="5120640" cy="41148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spc="0" cap="none">
                <a:solidFill>
                  <a:srgbClr val="C084FC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3246120"/>
            <a:ext cx="5120640" cy="278892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1072" y="2697480"/>
            <a:ext cx="5120640" cy="41148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spc="0" cap="none">
                <a:solidFill>
                  <a:srgbClr val="C084FC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2" y="3246120"/>
            <a:ext cx="5120640" cy="278892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dark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ature + Panel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lass panel"/>
          <p:cNvSpPr/>
          <p:nvPr userDrawn="1"/>
        </p:nvSpPr>
        <p:spPr>
          <a:xfrm>
            <a:off x="5806440" y="1097280"/>
            <a:ext cx="5605272" cy="4937760"/>
          </a:xfrm>
          <a:prstGeom prst="roundRect">
            <a:avLst>
              <a:gd name="adj" fmla="val 52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206" name="HUD tl"/>
          <p:cNvSpPr/>
          <p:nvPr userDrawn="1"/>
        </p:nvSpPr>
        <p:spPr>
          <a:xfrm>
            <a:off x="5989320" y="128016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0" y="201168"/>
                </a:moveTo>
                <a:lnTo>
                  <a:pt x="0" y="0"/>
                </a:lnTo>
                <a:lnTo>
                  <a:pt x="201168" y="0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7" name="HUD tr"/>
          <p:cNvSpPr/>
          <p:nvPr userDrawn="1"/>
        </p:nvSpPr>
        <p:spPr>
          <a:xfrm>
            <a:off x="11228832" y="128016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0" y="0"/>
                </a:moveTo>
                <a:lnTo>
                  <a:pt x="201168" y="0"/>
                </a:lnTo>
                <a:lnTo>
                  <a:pt x="201168" y="20116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8" name="HUD bl"/>
          <p:cNvSpPr/>
          <p:nvPr userDrawn="1"/>
        </p:nvSpPr>
        <p:spPr>
          <a:xfrm>
            <a:off x="5989320" y="565099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0" y="0"/>
                </a:moveTo>
                <a:lnTo>
                  <a:pt x="0" y="201168"/>
                </a:lnTo>
                <a:lnTo>
                  <a:pt x="201168" y="20116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9" name="HUD br"/>
          <p:cNvSpPr/>
          <p:nvPr userDrawn="1"/>
        </p:nvSpPr>
        <p:spPr>
          <a:xfrm>
            <a:off x="11228832" y="565099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201168" y="0"/>
                </a:moveTo>
                <a:lnTo>
                  <a:pt x="201168" y="201168"/>
                </a:lnTo>
                <a:lnTo>
                  <a:pt x="0" y="20116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4480560" cy="155448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0" y="1463040"/>
            <a:ext cx="4965192" cy="42062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3154680"/>
            <a:ext cx="4480560" cy="283464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lnSpc>
                <a:spcPct val="118000"/>
              </a:lnSpc>
              <a:spcBef>
                <a:spcPts val="0"/>
              </a:spcBef>
              <a:buNone/>
              <a:defRPr sz="1600" b="0" spc="0" cap="none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+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HUD tl"/>
          <p:cNvSpPr/>
          <p:nvPr userDrawn="1"/>
        </p:nvSpPr>
        <p:spPr>
          <a:xfrm>
            <a:off x="649224" y="101498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0" y="237744"/>
                </a:moveTo>
                <a:lnTo>
                  <a:pt x="0" y="0"/>
                </a:lnTo>
                <a:lnTo>
                  <a:pt x="237744" y="0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6" name="HUD tr"/>
          <p:cNvSpPr/>
          <p:nvPr userDrawn="1"/>
        </p:nvSpPr>
        <p:spPr>
          <a:xfrm>
            <a:off x="6976872" y="101498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0" y="0"/>
                </a:moveTo>
                <a:lnTo>
                  <a:pt x="237744" y="0"/>
                </a:lnTo>
                <a:lnTo>
                  <a:pt x="237744" y="237744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7" name="HUD bl"/>
          <p:cNvSpPr/>
          <p:nvPr userDrawn="1"/>
        </p:nvSpPr>
        <p:spPr>
          <a:xfrm>
            <a:off x="649224" y="590702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0" y="0"/>
                </a:moveTo>
                <a:lnTo>
                  <a:pt x="0" y="237744"/>
                </a:lnTo>
                <a:lnTo>
                  <a:pt x="237744" y="237744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8" name="HUD br"/>
          <p:cNvSpPr/>
          <p:nvPr userDrawn="1"/>
        </p:nvSpPr>
        <p:spPr>
          <a:xfrm>
            <a:off x="6976872" y="590702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237744" y="0"/>
                </a:moveTo>
                <a:lnTo>
                  <a:pt x="237744" y="237744"/>
                </a:lnTo>
                <a:lnTo>
                  <a:pt x="0" y="237744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3" name="Eyebrow rule"/>
          <p:cNvSpPr/>
          <p:nvPr userDrawn="1"/>
        </p:nvSpPr>
        <p:spPr>
          <a:xfrm>
            <a:off x="758952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0" y="1444752"/>
            <a:ext cx="3822192" cy="17373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4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1143000"/>
            <a:ext cx="6309360" cy="4892040"/>
          </a:xfrm>
          <a:prstGeom prst="roundRect">
            <a:avLst>
              <a:gd name="adj" fmla="val 400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3337560"/>
            <a:ext cx="3822192" cy="26517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lnSpc>
                <a:spcPct val="118000"/>
              </a:lnSpc>
              <a:spcBef>
                <a:spcPts val="0"/>
              </a:spcBef>
              <a:buNone/>
              <a:defRPr sz="1600" b="0" spc="0" cap="none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7955280" y="1115568"/>
            <a:ext cx="338328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ight: Title +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E6DEFA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6D3FE0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77240" y="2743200"/>
            <a:ext cx="10637215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800" b="0" spc="0">
                <a:solidFill>
                  <a:srgbClr val="3A2A66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8C7FB5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8C7FB5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6D3FE0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right Band (closing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Eyebrow rule"/>
          <p:cNvSpPr/>
          <p:nvPr userDrawn="1"/>
        </p:nvSpPr>
        <p:spPr>
          <a:xfrm>
            <a:off x="777240" y="1677924"/>
            <a:ext cx="246888" cy="18288"/>
          </a:xfrm>
          <a:prstGeom prst="rect">
            <a:avLst/>
          </a:prstGeom>
          <a:solidFill>
            <a:srgbClr val="0F032D"/>
          </a:solidFill>
          <a:ln>
            <a:noFill/>
          </a:ln>
        </p:spPr>
      </p:sp>
      <p:sp>
        <p:nvSpPr>
          <p:cNvPr id="201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0F032D">
                <a:alpha val="22000"/>
              </a:srgbClr>
            </a:solidFill>
          </a:ln>
        </p:spPr>
      </p:sp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777240" y="2011680"/>
            <a:ext cx="7863840" cy="219456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800" b="1" spc="-40" cap="all">
                <a:solidFill>
                  <a:srgbClr val="0F032D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77240" y="4434840"/>
            <a:ext cx="6583680" cy="91440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lnSpc>
                <a:spcPct val="118000"/>
              </a:lnSpc>
              <a:spcBef>
                <a:spcPts val="0"/>
              </a:spcBef>
              <a:buNone/>
              <a:defRPr sz="2000" b="0" spc="0" cap="none">
                <a:solidFill>
                  <a:srgbClr val="0F032D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3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554480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743200"/>
            <a:ext cx="10637215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6855" y="6382512"/>
            <a:ext cx="18288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7240" y="6382512"/>
            <a:ext cx="45720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42855" y="6382512"/>
            <a:ext cx="13716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0" r:id="rId2"/>
    <p:sldLayoutId id="2147483652" r:id="rId4"/>
    <p:sldLayoutId id="2147483653" r:id="rId5"/>
    <p:sldLayoutId id="2147483654" r:id="rId6"/>
    <p:sldLayoutId id="2147483656" r:id="rId8"/>
    <p:sldLayoutId id="2147483657" r:id="rId9"/>
    <p:sldLayoutId id="2147483658" r:id="rId10"/>
    <p:sldLayoutId id="2147483659" r:id="rId11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cap="all" spc="-30" kern="1200">
          <a:solidFill>
            <a:srgbClr val="F6F1FF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2000"/>
        </a:lnSpc>
        <a:spcBef>
          <a:spcPts val="900"/>
        </a:spcBef>
        <a:buClr>
          <a:srgbClr val="C084FC"/>
        </a:buClr>
        <a:buFont typeface="Arial"/>
        <a:buChar char="•"/>
        <a:defRPr sz="1800" kern="1200">
          <a:solidFill>
            <a:srgbClr val="B7B6B9"/>
          </a:solidFill>
          <a:latin typeface="+mn-lt"/>
          <a:ea typeface="+mn-ea"/>
          <a:cs typeface="+mn-cs"/>
        </a:defRPr>
      </a:lvl1pPr>
      <a:lvl2pPr marL="628650" indent="-228600" algn="l" defTabSz="914400" rtl="0" eaLnBrk="1" latinLnBrk="0" hangingPunct="1">
        <a:lnSpc>
          <a:spcPct val="112000"/>
        </a:lnSpc>
        <a:spcBef>
          <a:spcPts val="500"/>
        </a:spcBef>
        <a:buClr>
          <a:srgbClr val="C084FC"/>
        </a:buClr>
        <a:buFont typeface="Arial"/>
        <a:buChar char="–"/>
        <a:defRPr sz="1600" kern="1200">
          <a:solidFill>
            <a:srgbClr val="B7B6B9"/>
          </a:solidFill>
          <a:latin typeface="+mn-lt"/>
          <a:ea typeface="+mn-ea"/>
          <a:cs typeface="+mn-cs"/>
        </a:defRPr>
      </a:lvl2pPr>
      <a:lvl3pPr marL="971550" indent="-228600" algn="l" defTabSz="914400" rtl="0" eaLnBrk="1" latinLnBrk="0" hangingPunct="1">
        <a:lnSpc>
          <a:spcPct val="112000"/>
        </a:lnSpc>
        <a:spcBef>
          <a:spcPts val="400"/>
        </a:spcBef>
        <a:buClr>
          <a:srgbClr val="C084FC"/>
        </a:buClr>
        <a:buFont typeface="Arial"/>
        <a:buChar char="•"/>
        <a:defRPr sz="1400" kern="1200">
          <a:solidFill>
            <a:srgbClr val="B7B6B9"/>
          </a:solidFill>
          <a:latin typeface="+mn-lt"/>
          <a:ea typeface="+mn-ea"/>
          <a:cs typeface="+mn-cs"/>
        </a:defRPr>
      </a:lvl3pPr>
      <a:lvl4pPr marL="1314450" indent="-228600" algn="l" defTabSz="914400" rtl="0" eaLnBrk="1" latinLnBrk="0" hangingPunct="1">
        <a:lnSpc>
          <a:spcPct val="112000"/>
        </a:lnSpc>
        <a:spcBef>
          <a:spcPts val="300"/>
        </a:spcBef>
        <a:buClr>
          <a:srgbClr val="C084FC"/>
        </a:buClr>
        <a:buFont typeface="Arial"/>
        <a:buChar char="–"/>
        <a:defRPr sz="1400" kern="1200">
          <a:solidFill>
            <a:srgbClr val="B7B6B9"/>
          </a:solidFill>
          <a:latin typeface="+mn-lt"/>
          <a:ea typeface="+mn-ea"/>
          <a:cs typeface="+mn-cs"/>
        </a:defRPr>
      </a:lvl4pPr>
      <a:lvl5pPr marL="1657350" indent="-228600" algn="l" defTabSz="914400" rtl="0" eaLnBrk="1" latinLnBrk="0" hangingPunct="1">
        <a:lnSpc>
          <a:spcPct val="112000"/>
        </a:lnSpc>
        <a:spcBef>
          <a:spcPts val="300"/>
        </a:spcBef>
        <a:buClr>
          <a:srgbClr val="C084FC"/>
        </a:buClr>
        <a:buFont typeface="Arial"/>
        <a:buChar char="•"/>
        <a:defRPr sz="1400" kern="1200">
          <a:solidFill>
            <a:srgbClr val="B7B6B9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nine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Lead-gen pipeline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Agent card 1"/>
          <p:cNvSpPr/>
          <p:nvPr/>
        </p:nvSpPr>
        <p:spPr>
          <a:xfrm>
            <a:off x="777240" y="2514600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01" name="TextBox 300"/>
          <p:cNvSpPr txBox="1"/>
          <p:nvPr/>
        </p:nvSpPr>
        <p:spPr>
          <a:xfrm>
            <a:off x="1005840" y="2697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01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463040" y="2670048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Discovery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05840" y="3081528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Finds YC startups that fit our ideal customer</a:t>
            </a:r>
          </a:p>
        </p:txBody>
      </p:sp>
      <p:sp>
        <p:nvSpPr>
          <p:cNvPr id="301" name="Agent card 2"/>
          <p:cNvSpPr/>
          <p:nvPr/>
        </p:nvSpPr>
        <p:spPr>
          <a:xfrm>
            <a:off x="4399178" y="2514600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04" name="TextBox 303"/>
          <p:cNvSpPr txBox="1"/>
          <p:nvPr/>
        </p:nvSpPr>
        <p:spPr>
          <a:xfrm>
            <a:off x="4627778" y="2697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02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5084978" y="2670048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Enrichment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4627778" y="3081528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Adds size, industry, location and founders</a:t>
            </a:r>
          </a:p>
        </p:txBody>
      </p:sp>
      <p:sp>
        <p:nvSpPr>
          <p:cNvPr id="302" name="Agent card 3"/>
          <p:cNvSpPr/>
          <p:nvPr/>
        </p:nvSpPr>
        <p:spPr>
          <a:xfrm>
            <a:off x="8021117" y="2514600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07" name="TextBox 306"/>
          <p:cNvSpPr txBox="1"/>
          <p:nvPr/>
        </p:nvSpPr>
        <p:spPr>
          <a:xfrm>
            <a:off x="8249717" y="2697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03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706917" y="2670048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ICP guardrail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249717" y="3081528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Rejects poor fits before any spend</a:t>
            </a:r>
          </a:p>
        </p:txBody>
      </p:sp>
      <p:sp>
        <p:nvSpPr>
          <p:cNvPr id="303" name="Agent card 4"/>
          <p:cNvSpPr/>
          <p:nvPr/>
        </p:nvSpPr>
        <p:spPr>
          <a:xfrm>
            <a:off x="777240" y="3648456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10" name="TextBox 309"/>
          <p:cNvSpPr txBox="1"/>
          <p:nvPr/>
        </p:nvSpPr>
        <p:spPr>
          <a:xfrm>
            <a:off x="1005840" y="38313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04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463040" y="3803904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Contact finder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05840" y="4215384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Decision-makers with published emails</a:t>
            </a:r>
          </a:p>
        </p:txBody>
      </p:sp>
      <p:sp>
        <p:nvSpPr>
          <p:cNvPr id="304" name="Agent card 5"/>
          <p:cNvSpPr/>
          <p:nvPr/>
        </p:nvSpPr>
        <p:spPr>
          <a:xfrm>
            <a:off x="4399178" y="3648456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13" name="TextBox 312"/>
          <p:cNvSpPr txBox="1"/>
          <p:nvPr/>
        </p:nvSpPr>
        <p:spPr>
          <a:xfrm>
            <a:off x="4627778" y="38313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084978" y="3803904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Scoring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4627778" y="4215384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Rates customer fit from 1 to 10</a:t>
            </a:r>
          </a:p>
        </p:txBody>
      </p:sp>
      <p:sp>
        <p:nvSpPr>
          <p:cNvPr id="305" name="Agent card 6"/>
          <p:cNvSpPr/>
          <p:nvPr/>
        </p:nvSpPr>
        <p:spPr>
          <a:xfrm>
            <a:off x="8021117" y="3648456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16" name="TextBox 315"/>
          <p:cNvSpPr txBox="1"/>
          <p:nvPr/>
        </p:nvSpPr>
        <p:spPr>
          <a:xfrm>
            <a:off x="8249717" y="38313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06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706917" y="3803904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Research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249717" y="4215384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Finds talking points and the best ad type</a:t>
            </a:r>
          </a:p>
        </p:txBody>
      </p:sp>
      <p:sp>
        <p:nvSpPr>
          <p:cNvPr id="306" name="Agent card 7"/>
          <p:cNvSpPr/>
          <p:nvPr/>
        </p:nvSpPr>
        <p:spPr>
          <a:xfrm>
            <a:off x="777240" y="4782312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19" name="TextBox 318"/>
          <p:cNvSpPr txBox="1"/>
          <p:nvPr/>
        </p:nvSpPr>
        <p:spPr>
          <a:xfrm>
            <a:off x="1005840" y="49651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07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463040" y="4937760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Outreach writer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005840" y="5349240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Drafts the first email in our voice</a:t>
            </a:r>
          </a:p>
        </p:txBody>
      </p:sp>
      <p:sp>
        <p:nvSpPr>
          <p:cNvPr id="307" name="Agent card 8"/>
          <p:cNvSpPr/>
          <p:nvPr/>
        </p:nvSpPr>
        <p:spPr>
          <a:xfrm>
            <a:off x="4399178" y="4782312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22" name="TextBox 321"/>
          <p:cNvSpPr txBox="1"/>
          <p:nvPr/>
        </p:nvSpPr>
        <p:spPr>
          <a:xfrm>
            <a:off x="4627778" y="49651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08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084978" y="4937760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Reply writer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627778" y="5349240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Drafts replies and honors opt-outs</a:t>
            </a:r>
          </a:p>
        </p:txBody>
      </p:sp>
      <p:sp>
        <p:nvSpPr>
          <p:cNvPr id="308" name="Agent card 9"/>
          <p:cNvSpPr/>
          <p:nvPr/>
        </p:nvSpPr>
        <p:spPr>
          <a:xfrm>
            <a:off x="8021117" y="4782312"/>
            <a:ext cx="3393338" cy="1005840"/>
          </a:xfrm>
          <a:prstGeom prst="roundRect">
            <a:avLst>
              <a:gd name="adj" fmla="val 120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325" name="TextBox 324"/>
          <p:cNvSpPr txBox="1"/>
          <p:nvPr/>
        </p:nvSpPr>
        <p:spPr>
          <a:xfrm>
            <a:off x="8249717" y="49651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spc="140">
                <a:solidFill>
                  <a:srgbClr val="C084FC"/>
                </a:solidFill>
                <a:latin typeface="DM Mono" pitchFamily="49" charset="0"/>
              </a:rPr>
              <a:t>09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706917" y="4937760"/>
            <a:ext cx="24789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FEFEF"/>
                </a:solidFill>
                <a:latin typeface="DM Sans" pitchFamily="34" charset="0"/>
              </a:rPr>
              <a:t>Send agent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8249717" y="5349240"/>
            <a:ext cx="29361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B7B6B9"/>
                </a:solidFill>
                <a:latin typeface="DM Sans" pitchFamily="34" charset="0"/>
              </a:rPr>
              <a:t>Sends approved emails only, capped daily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spc="120">
                <a:solidFill>
                  <a:srgbClr val="A9A8AC"/>
                </a:solidFill>
                <a:latin typeface="DM Mono" pitchFamily="49" charset="0"/>
              </a:rPr>
              <a:t>Nothing is emailed until a person approves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fis">
  <a:themeElements>
    <a:clrScheme name="Serfis">
      <a:dk1>
        <a:srgbClr val="06030F"/>
      </a:dk1>
      <a:lt1>
        <a:srgbClr val="EFEFEF"/>
      </a:lt1>
      <a:dk2>
        <a:srgbClr val="0F032D"/>
      </a:dk2>
      <a:lt2>
        <a:srgbClr val="C084FC"/>
      </a:lt2>
      <a:accent1>
        <a:srgbClr val="6A3FE6"/>
      </a:accent1>
      <a:accent2>
        <a:srgbClr val="905BF4"/>
      </a:accent2>
      <a:accent3>
        <a:srgbClr val="C084FC"/>
      </a:accent3>
      <a:accent4>
        <a:srgbClr val="3B5BFF"/>
      </a:accent4>
      <a:accent5>
        <a:srgbClr val="D946EF"/>
      </a:accent5>
      <a:accent6>
        <a:srgbClr val="3BE08C"/>
      </a:accent6>
      <a:hlink>
        <a:srgbClr val="C084FC"/>
      </a:hlink>
      <a:folHlink>
        <a:srgbClr val="905BF4"/>
      </a:folHlink>
    </a:clrScheme>
    <a:fontScheme name="Office">
      <a:majorFont>
        <a:latin typeface="Unbounded" pitchFamily="34" charset="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M Sans" pitchFamily="34" charset="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Serfis presentation template</dc:title>
  <dc:subject>Serfis brand template</dc:subject>
  <dc:creator>Serfis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